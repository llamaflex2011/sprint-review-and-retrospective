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1"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E58248-99A6-E43C-8DEB-3E9C948E4150}" v="1673" dt="2025-12-07T00:50:18.0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2107200" y="1096965"/>
            <a:ext cx="7977600" cy="2085696"/>
          </a:xfrm>
        </p:spPr>
        <p:txBody>
          <a:bodyPr anchor="b">
            <a:norm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3216000" y="3945771"/>
            <a:ext cx="5760000" cy="1832730"/>
          </a:xfrm>
        </p:spPr>
        <p:txBody>
          <a:bodyPr>
            <a:normAutofit/>
          </a:bodyPr>
          <a:lstStyle>
            <a:lvl1pPr marL="0" indent="0" algn="ctr">
              <a:lnSpc>
                <a:spcPct val="125000"/>
              </a:lnSpc>
              <a:buNone/>
              <a:defRPr sz="24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FD0CA85-BF38-4762-934C-D00F2047C2D1}"/>
              </a:ext>
            </a:extLst>
          </p:cNvPr>
          <p:cNvSpPr>
            <a:spLocks noGrp="1"/>
          </p:cNvSpPr>
          <p:nvPr>
            <p:ph type="dt" sz="half" idx="10"/>
          </p:nvPr>
        </p:nvSpPr>
        <p:spPr/>
        <p:txBody>
          <a:bodyPr/>
          <a:lstStyle/>
          <a:p>
            <a:fld id="{4EC743F4-8769-40B4-85DF-6CB8DE9F66AA}" type="datetimeFigureOut">
              <a:rPr lang="en-US" smtClean="0"/>
              <a:t>12/6/2025</a:t>
            </a:fld>
            <a:endParaRPr lang="en-US"/>
          </a:p>
        </p:txBody>
      </p:sp>
      <p:sp>
        <p:nvSpPr>
          <p:cNvPr id="5" name="Footer Placeholder 4">
            <a:extLst>
              <a:ext uri="{FF2B5EF4-FFF2-40B4-BE49-F238E27FC236}">
                <a16:creationId xmlns:a16="http://schemas.microsoft.com/office/drawing/2014/main" id="{649CA3C9-6579-49D9-A5FD-20231FB4B3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9B94FE-6287-4D49-B0E5-FE9A9BA75A0C}"/>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7" name="Straight Connector 6">
            <a:extLst>
              <a:ext uri="{FF2B5EF4-FFF2-40B4-BE49-F238E27FC236}">
                <a16:creationId xmlns:a16="http://schemas.microsoft.com/office/drawing/2014/main" id="{AE0C0B2A-3FD1-4235-A16E-0ED1E028A93E}"/>
              </a:ext>
            </a:extLst>
          </p:cNvPr>
          <p:cNvCxnSpPr>
            <a:cxnSpLocks/>
          </p:cNvCxnSpPr>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494E066-0146-46E9-BAF1-C33240ABA294}"/>
              </a:ext>
            </a:extLst>
          </p:cNvPr>
          <p:cNvGrpSpPr/>
          <p:nvPr/>
        </p:nvGrpSpPr>
        <p:grpSpPr>
          <a:xfrm rot="2700000">
            <a:off x="10127693" y="4178240"/>
            <a:ext cx="633413" cy="1862138"/>
            <a:chOff x="5959192" y="333389"/>
            <a:chExt cx="633413" cy="1862138"/>
          </a:xfrm>
        </p:grpSpPr>
        <p:grpSp>
          <p:nvGrpSpPr>
            <p:cNvPr id="9" name="Group 8">
              <a:extLst>
                <a:ext uri="{FF2B5EF4-FFF2-40B4-BE49-F238E27FC236}">
                  <a16:creationId xmlns:a16="http://schemas.microsoft.com/office/drawing/2014/main" id="{B02BD80B-C499-4DAC-9580-575B04F8658F}"/>
                </a:ext>
              </a:extLst>
            </p:cNvPr>
            <p:cNvGrpSpPr/>
            <p:nvPr/>
          </p:nvGrpSpPr>
          <p:grpSpPr>
            <a:xfrm>
              <a:off x="5959192" y="333389"/>
              <a:ext cx="633413" cy="1419225"/>
              <a:chOff x="5959192" y="333389"/>
              <a:chExt cx="633413" cy="1419225"/>
            </a:xfrm>
          </p:grpSpPr>
          <p:sp>
            <p:nvSpPr>
              <p:cNvPr id="11" name="Freeform 68">
                <a:extLst>
                  <a:ext uri="{FF2B5EF4-FFF2-40B4-BE49-F238E27FC236}">
                    <a16:creationId xmlns:a16="http://schemas.microsoft.com/office/drawing/2014/main" id="{CCF069F3-858C-4C67-90C2-46017C3D4CEB}"/>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8A1FFA52-DFA8-4A81-8A85-50BE13257F51}"/>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Line 70">
              <a:extLst>
                <a:ext uri="{FF2B5EF4-FFF2-40B4-BE49-F238E27FC236}">
                  <a16:creationId xmlns:a16="http://schemas.microsoft.com/office/drawing/2014/main" id="{BAEDA471-60CB-4A0C-B9AD-B2B3C51EA2F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031746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fld id="{4EC743F4-8769-40B4-85DF-6CB8DE9F66AA}" type="datetimeFigureOut">
              <a:rPr lang="en-US" smtClean="0"/>
              <a:t>12/6/2025</a:t>
            </a:fld>
            <a:endParaRPr lang="en-US"/>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239123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5267-19A7-4A3D-9658-AD3F78DD35CB}"/>
              </a:ext>
            </a:extLst>
          </p:cNvPr>
          <p:cNvSpPr>
            <a:spLocks noGrp="1"/>
          </p:cNvSpPr>
          <p:nvPr>
            <p:ph type="title"/>
          </p:nvPr>
        </p:nvSpPr>
        <p:spPr>
          <a:xfrm>
            <a:off x="990000" y="2305800"/>
            <a:ext cx="4636800" cy="2246400"/>
          </a:xfrm>
        </p:spPr>
        <p:txBody>
          <a:bodyPr anchor="ctr">
            <a:normAutofit/>
          </a:bodyPr>
          <a:lstStyle>
            <a:lvl1pPr algn="ct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5F17554-5672-499F-BEB9-AB069E6D15F2}"/>
              </a:ext>
            </a:extLst>
          </p:cNvPr>
          <p:cNvSpPr>
            <a:spLocks noGrp="1"/>
          </p:cNvSpPr>
          <p:nvPr>
            <p:ph type="body" idx="1"/>
          </p:nvPr>
        </p:nvSpPr>
        <p:spPr>
          <a:xfrm>
            <a:off x="6565250" y="2305800"/>
            <a:ext cx="4636800" cy="2246400"/>
          </a:xfrm>
        </p:spPr>
        <p:txBody>
          <a:bodyPr anchor="ctr">
            <a:normAutofit/>
          </a:bodyPr>
          <a:lstStyle>
            <a:lvl1pPr marL="0" indent="0" algn="ctr">
              <a:lnSpc>
                <a:spcPct val="125000"/>
              </a:lnSpc>
              <a:buNone/>
              <a:defRPr sz="2400" i="1">
                <a:solidFill>
                  <a:schemeClr val="tx1">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CBA3C6-C279-46AA-B4EE-5F861D83D2AC}"/>
              </a:ext>
            </a:extLst>
          </p:cNvPr>
          <p:cNvSpPr>
            <a:spLocks noGrp="1"/>
          </p:cNvSpPr>
          <p:nvPr>
            <p:ph type="dt" sz="half" idx="10"/>
          </p:nvPr>
        </p:nvSpPr>
        <p:spPr/>
        <p:txBody>
          <a:bodyPr/>
          <a:lstStyle/>
          <a:p>
            <a:fld id="{4EC743F4-8769-40B4-85DF-6CB8DE9F66AA}" type="datetimeFigureOut">
              <a:rPr lang="en-US" smtClean="0"/>
              <a:t>12/6/2025</a:t>
            </a:fld>
            <a:endParaRPr lang="en-US" dirty="0"/>
          </a:p>
        </p:txBody>
      </p:sp>
      <p:sp>
        <p:nvSpPr>
          <p:cNvPr id="5" name="Footer Placeholder 4">
            <a:extLst>
              <a:ext uri="{FF2B5EF4-FFF2-40B4-BE49-F238E27FC236}">
                <a16:creationId xmlns:a16="http://schemas.microsoft.com/office/drawing/2014/main" id="{F04C125B-DDB9-4F4E-B9E9-A747E648F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D465E-E86B-42A8-B18A-9046E40D63D6}"/>
              </a:ext>
            </a:extLst>
          </p:cNvPr>
          <p:cNvSpPr>
            <a:spLocks noGrp="1"/>
          </p:cNvSpPr>
          <p:nvPr>
            <p:ph type="sldNum" sz="quarter" idx="12"/>
          </p:nvPr>
        </p:nvSpPr>
        <p:spPr/>
        <p:txBody>
          <a:bodyPr/>
          <a:lstStyle/>
          <a:p>
            <a:fld id="{FF2BD96E-3838-45D2-9031-D3AF67C920A5}" type="slidenum">
              <a:rPr lang="en-US" smtClean="0"/>
              <a:t>‹#›</a:t>
            </a:fld>
            <a:endParaRPr lang="en-US"/>
          </a:p>
        </p:txBody>
      </p:sp>
      <p:sp>
        <p:nvSpPr>
          <p:cNvPr id="7" name="Oval 6">
            <a:extLst>
              <a:ext uri="{FF2B5EF4-FFF2-40B4-BE49-F238E27FC236}">
                <a16:creationId xmlns:a16="http://schemas.microsoft.com/office/drawing/2014/main" id="{6681007E-0E57-40DB-9A98-D04E0A05937B}"/>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8" name="Group 7">
            <a:extLst>
              <a:ext uri="{FF2B5EF4-FFF2-40B4-BE49-F238E27FC236}">
                <a16:creationId xmlns:a16="http://schemas.microsoft.com/office/drawing/2014/main" id="{4C2D7ED2-BAE3-470E-9EFF-F2A49EDD9767}"/>
              </a:ext>
            </a:extLst>
          </p:cNvPr>
          <p:cNvGrpSpPr/>
          <p:nvPr/>
        </p:nvGrpSpPr>
        <p:grpSpPr>
          <a:xfrm rot="10800000">
            <a:off x="1079500" y="952167"/>
            <a:ext cx="641184" cy="1069728"/>
            <a:chOff x="6484111" y="2967038"/>
            <a:chExt cx="641184" cy="1069728"/>
          </a:xfrm>
        </p:grpSpPr>
        <p:grpSp>
          <p:nvGrpSpPr>
            <p:cNvPr id="9" name="Group 8">
              <a:extLst>
                <a:ext uri="{FF2B5EF4-FFF2-40B4-BE49-F238E27FC236}">
                  <a16:creationId xmlns:a16="http://schemas.microsoft.com/office/drawing/2014/main" id="{15B14D1A-9E1B-41C3-96AA-A5C40C4F9B3A}"/>
                </a:ext>
              </a:extLst>
            </p:cNvPr>
            <p:cNvGrpSpPr/>
            <p:nvPr/>
          </p:nvGrpSpPr>
          <p:grpSpPr>
            <a:xfrm>
              <a:off x="6808136" y="2967038"/>
              <a:ext cx="317159" cy="932400"/>
              <a:chOff x="6808136" y="2967038"/>
              <a:chExt cx="317159" cy="932400"/>
            </a:xfrm>
          </p:grpSpPr>
          <p:sp>
            <p:nvSpPr>
              <p:cNvPr id="14" name="Freeform 68">
                <a:extLst>
                  <a:ext uri="{FF2B5EF4-FFF2-40B4-BE49-F238E27FC236}">
                    <a16:creationId xmlns:a16="http://schemas.microsoft.com/office/drawing/2014/main" id="{00EC83EC-04A6-4533-80A5-B1817F1FB35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BF61FF24-9074-4265-ACF4-1AEC3621B7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8D31D9FF-672B-4C5E-B4B2-DD86A124413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8991EBFD-EBD5-48CE-9178-AF5B6F50D416}"/>
                </a:ext>
              </a:extLst>
            </p:cNvPr>
            <p:cNvGrpSpPr/>
            <p:nvPr/>
          </p:nvGrpSpPr>
          <p:grpSpPr>
            <a:xfrm rot="18900000" flipH="1">
              <a:off x="6484111" y="3104366"/>
              <a:ext cx="317159" cy="932400"/>
              <a:chOff x="6808136" y="2967038"/>
              <a:chExt cx="317159" cy="932400"/>
            </a:xfrm>
          </p:grpSpPr>
          <p:sp>
            <p:nvSpPr>
              <p:cNvPr id="11" name="Freeform 68">
                <a:extLst>
                  <a:ext uri="{FF2B5EF4-FFF2-40B4-BE49-F238E27FC236}">
                    <a16:creationId xmlns:a16="http://schemas.microsoft.com/office/drawing/2014/main" id="{1B45F046-3129-4A30-9402-44BA590CD1B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24589F32-BB2E-46B1-BAB5-75EA779C7A25}"/>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Line 70">
                <a:extLst>
                  <a:ext uri="{FF2B5EF4-FFF2-40B4-BE49-F238E27FC236}">
                    <a16:creationId xmlns:a16="http://schemas.microsoft.com/office/drawing/2014/main" id="{0BD46CA5-AE89-4413-AB8D-347179D8813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cxnSp>
        <p:nvCxnSpPr>
          <p:cNvPr id="17" name="Straight Connector 16">
            <a:extLst>
              <a:ext uri="{FF2B5EF4-FFF2-40B4-BE49-F238E27FC236}">
                <a16:creationId xmlns:a16="http://schemas.microsoft.com/office/drawing/2014/main" id="{4043A360-3214-4DB8-BD85-C6AE48D02D3A}"/>
              </a:ext>
            </a:extLst>
          </p:cNvPr>
          <p:cNvCxnSpPr>
            <a:cxnSpLocks/>
          </p:cNvCxnSpPr>
          <p:nvPr/>
        </p:nvCxnSpPr>
        <p:spPr>
          <a:xfrm rot="16200000" flipH="1">
            <a:off x="5826000"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5365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p>
            <a:fld id="{4EC743F4-8769-40B4-85DF-6CB8DE9F66AA}" type="datetimeFigureOut">
              <a:rPr lang="en-US" smtClean="0"/>
              <a:t>12/6/2025</a:t>
            </a:fld>
            <a:endParaRPr lang="en-US"/>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867061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p>
            <a:fld id="{4EC743F4-8769-40B4-85DF-6CB8DE9F66AA}" type="datetimeFigureOut">
              <a:rPr lang="en-US" smtClean="0"/>
              <a:t>12/6/2025</a:t>
            </a:fld>
            <a:endParaRPr lang="en-US"/>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48622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p>
            <a:fld id="{4EC743F4-8769-40B4-85DF-6CB8DE9F66AA}" type="datetimeFigureOut">
              <a:rPr lang="en-US" smtClean="0"/>
              <a:t>12/6/2025</a:t>
            </a:fld>
            <a:endParaRPr lang="en-US"/>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468658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6A27C-9BDA-43B3-96EA-C145EA7F04DE}"/>
              </a:ext>
            </a:extLst>
          </p:cNvPr>
          <p:cNvSpPr>
            <a:spLocks noGrp="1"/>
          </p:cNvSpPr>
          <p:nvPr>
            <p:ph type="dt" sz="half" idx="10"/>
          </p:nvPr>
        </p:nvSpPr>
        <p:spPr/>
        <p:txBody>
          <a:bodyPr/>
          <a:lstStyle/>
          <a:p>
            <a:fld id="{4EC743F4-8769-40B4-85DF-6CB8DE9F66AA}" type="datetimeFigureOut">
              <a:rPr lang="en-US" smtClean="0"/>
              <a:t>12/6/2025</a:t>
            </a:fld>
            <a:endParaRPr lang="en-US"/>
          </a:p>
        </p:txBody>
      </p:sp>
      <p:sp>
        <p:nvSpPr>
          <p:cNvPr id="3" name="Footer Placeholder 2">
            <a:extLst>
              <a:ext uri="{FF2B5EF4-FFF2-40B4-BE49-F238E27FC236}">
                <a16:creationId xmlns:a16="http://schemas.microsoft.com/office/drawing/2014/main" id="{791FBD5E-AA17-42F1-8615-49F2664DD4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57A2D5-EBE5-43DD-8CF2-8B90801A0DF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1928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51E1-40E1-4ED2-A9E3-6376E774AD27}"/>
              </a:ext>
            </a:extLst>
          </p:cNvPr>
          <p:cNvSpPr>
            <a:spLocks noGrp="1"/>
          </p:cNvSpPr>
          <p:nvPr>
            <p:ph type="title"/>
          </p:nvPr>
        </p:nvSpPr>
        <p:spPr>
          <a:xfrm>
            <a:off x="990001" y="955674"/>
            <a:ext cx="3531600" cy="1384995"/>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BAAE5E-AD83-40D4-8BDB-6B25250247AA}"/>
              </a:ext>
            </a:extLst>
          </p:cNvPr>
          <p:cNvSpPr>
            <a:spLocks noGrp="1"/>
          </p:cNvSpPr>
          <p:nvPr>
            <p:ph idx="1"/>
          </p:nvPr>
        </p:nvSpPr>
        <p:spPr>
          <a:xfrm>
            <a:off x="5444850" y="882651"/>
            <a:ext cx="5760000" cy="48958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D4DF8E2-A28B-4889-AD9E-1D733FEA2E0C}"/>
              </a:ext>
            </a:extLst>
          </p:cNvPr>
          <p:cNvSpPr>
            <a:spLocks noGrp="1"/>
          </p:cNvSpPr>
          <p:nvPr>
            <p:ph type="body" sz="half" idx="2"/>
          </p:nvPr>
        </p:nvSpPr>
        <p:spPr>
          <a:xfrm>
            <a:off x="989401" y="2584759"/>
            <a:ext cx="3531600" cy="3193741"/>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EF812-B775-468C-84D9-4394CC19F298}"/>
              </a:ext>
            </a:extLst>
          </p:cNvPr>
          <p:cNvSpPr>
            <a:spLocks noGrp="1"/>
          </p:cNvSpPr>
          <p:nvPr>
            <p:ph type="dt" sz="half" idx="10"/>
          </p:nvPr>
        </p:nvSpPr>
        <p:spPr/>
        <p:txBody>
          <a:bodyPr/>
          <a:lstStyle/>
          <a:p>
            <a:fld id="{4EC743F4-8769-40B4-85DF-6CB8DE9F66AA}" type="datetimeFigureOut">
              <a:rPr lang="en-US" smtClean="0"/>
              <a:t>12/6/2025</a:t>
            </a:fld>
            <a:endParaRPr lang="en-US"/>
          </a:p>
        </p:txBody>
      </p:sp>
      <p:sp>
        <p:nvSpPr>
          <p:cNvPr id="6" name="Footer Placeholder 5">
            <a:extLst>
              <a:ext uri="{FF2B5EF4-FFF2-40B4-BE49-F238E27FC236}">
                <a16:creationId xmlns:a16="http://schemas.microsoft.com/office/drawing/2014/main" id="{9DE1DEB3-5237-467C-A5B6-EDA7F366EB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877A6B-440F-4D7B-92DA-1B964D029F12}"/>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10" name="Straight Connector 9">
            <a:extLst>
              <a:ext uri="{FF2B5EF4-FFF2-40B4-BE49-F238E27FC236}">
                <a16:creationId xmlns:a16="http://schemas.microsoft.com/office/drawing/2014/main" id="{DC89B2F1-1E32-44DB-B50E-BEA1896CAD81}"/>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479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204-119E-45DB-A177-995FF5D9B4E5}"/>
              </a:ext>
            </a:extLst>
          </p:cNvPr>
          <p:cNvSpPr>
            <a:spLocks noGrp="1"/>
          </p:cNvSpPr>
          <p:nvPr>
            <p:ph type="title"/>
          </p:nvPr>
        </p:nvSpPr>
        <p:spPr>
          <a:xfrm>
            <a:off x="990000" y="955456"/>
            <a:ext cx="3531600" cy="1384995"/>
          </a:xfrm>
        </p:spPr>
        <p:txBody>
          <a:bodyPr anchor="b"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CD3036-53A8-4361-AAAC-D8072EB470FE}"/>
              </a:ext>
            </a:extLst>
          </p:cNvPr>
          <p:cNvSpPr>
            <a:spLocks noGrp="1"/>
          </p:cNvSpPr>
          <p:nvPr>
            <p:ph type="pic" idx="1"/>
          </p:nvPr>
        </p:nvSpPr>
        <p:spPr>
          <a:xfrm>
            <a:off x="5537200" y="540001"/>
            <a:ext cx="6115050" cy="5238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0FCFCD5-820E-47D9-9A60-57680C4C9405}"/>
              </a:ext>
            </a:extLst>
          </p:cNvPr>
          <p:cNvSpPr>
            <a:spLocks noGrp="1"/>
          </p:cNvSpPr>
          <p:nvPr>
            <p:ph type="body" sz="half" idx="2"/>
          </p:nvPr>
        </p:nvSpPr>
        <p:spPr>
          <a:xfrm>
            <a:off x="990000" y="2584758"/>
            <a:ext cx="3531600" cy="328422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446C3-A62E-4690-9098-53D59C4C33E0}"/>
              </a:ext>
            </a:extLst>
          </p:cNvPr>
          <p:cNvSpPr>
            <a:spLocks noGrp="1"/>
          </p:cNvSpPr>
          <p:nvPr>
            <p:ph type="dt" sz="half" idx="10"/>
          </p:nvPr>
        </p:nvSpPr>
        <p:spPr/>
        <p:txBody>
          <a:bodyPr/>
          <a:lstStyle/>
          <a:p>
            <a:fld id="{4EC743F4-8769-40B4-85DF-6CB8DE9F66AA}" type="datetimeFigureOut">
              <a:rPr lang="en-US" smtClean="0"/>
              <a:t>12/6/2025</a:t>
            </a:fld>
            <a:endParaRPr lang="en-US"/>
          </a:p>
        </p:txBody>
      </p:sp>
      <p:sp>
        <p:nvSpPr>
          <p:cNvPr id="6" name="Footer Placeholder 5">
            <a:extLst>
              <a:ext uri="{FF2B5EF4-FFF2-40B4-BE49-F238E27FC236}">
                <a16:creationId xmlns:a16="http://schemas.microsoft.com/office/drawing/2014/main" id="{40A6C8B8-EA3D-45E5-950A-B6F1EA0B47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2ACAB7-ADBF-42E5-A214-232BA9EFB3B6}"/>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9" name="Straight Connector 8">
            <a:extLst>
              <a:ext uri="{FF2B5EF4-FFF2-40B4-BE49-F238E27FC236}">
                <a16:creationId xmlns:a16="http://schemas.microsoft.com/office/drawing/2014/main" id="{D0E80DA6-B971-46B7-B0D3-8581AE0B6ACB}"/>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7011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B6D0-92CA-4910-AE77-E238F4C89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913172-A138-4DD4-A5B1-58BA625078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897B9-E4AD-469B-A60D-9A1A4BD1980A}"/>
              </a:ext>
            </a:extLst>
          </p:cNvPr>
          <p:cNvSpPr>
            <a:spLocks noGrp="1"/>
          </p:cNvSpPr>
          <p:nvPr>
            <p:ph type="dt" sz="half" idx="10"/>
          </p:nvPr>
        </p:nvSpPr>
        <p:spPr/>
        <p:txBody>
          <a:bodyPr/>
          <a:lstStyle/>
          <a:p>
            <a:fld id="{4EC743F4-8769-40B4-85DF-6CB8DE9F66AA}" type="datetimeFigureOut">
              <a:rPr lang="en-US" smtClean="0"/>
              <a:t>12/6/2025</a:t>
            </a:fld>
            <a:endParaRPr lang="en-US"/>
          </a:p>
        </p:txBody>
      </p:sp>
      <p:sp>
        <p:nvSpPr>
          <p:cNvPr id="5" name="Footer Placeholder 4">
            <a:extLst>
              <a:ext uri="{FF2B5EF4-FFF2-40B4-BE49-F238E27FC236}">
                <a16:creationId xmlns:a16="http://schemas.microsoft.com/office/drawing/2014/main" id="{31C5E1B0-48D6-4F99-9955-39958BA969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9F49DA-55D4-4E36-AEB9-A0E99E31A87E}"/>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251656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EBC7C-C5C1-4A79-A195-B35701C289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34A74-3328-469B-ABCA-96F2FE368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19AB-5637-455E-89C3-B41702C202D4}"/>
              </a:ext>
            </a:extLst>
          </p:cNvPr>
          <p:cNvSpPr>
            <a:spLocks noGrp="1"/>
          </p:cNvSpPr>
          <p:nvPr>
            <p:ph type="dt" sz="half" idx="10"/>
          </p:nvPr>
        </p:nvSpPr>
        <p:spPr/>
        <p:txBody>
          <a:bodyPr/>
          <a:lstStyle/>
          <a:p>
            <a:fld id="{4EC743F4-8769-40B4-85DF-6CB8DE9F66AA}" type="datetimeFigureOut">
              <a:rPr lang="en-US" smtClean="0"/>
              <a:t>12/6/2025</a:t>
            </a:fld>
            <a:endParaRPr lang="en-US"/>
          </a:p>
        </p:txBody>
      </p:sp>
      <p:sp>
        <p:nvSpPr>
          <p:cNvPr id="5" name="Footer Placeholder 4">
            <a:extLst>
              <a:ext uri="{FF2B5EF4-FFF2-40B4-BE49-F238E27FC236}">
                <a16:creationId xmlns:a16="http://schemas.microsoft.com/office/drawing/2014/main" id="{A364F2A3-EBEE-4F42-BAC2-A482F00E6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E1C27-1A43-4B0B-88D0-0C5FE1DBE161}"/>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771162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fld id="{4EC743F4-8769-40B4-85DF-6CB8DE9F66AA}" type="datetimeFigureOut">
              <a:rPr lang="en-US" smtClean="0"/>
              <a:pPr/>
              <a:t>12/6/2025</a:t>
            </a:fld>
            <a:endParaRPr lang="en-US" dirty="0"/>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endParaRPr lang="en-US" dirty="0"/>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FF2BD96E-3838-45D2-9031-D3AF67C920A5}" type="slidenum">
              <a:rPr lang="en-US" smtClean="0"/>
              <a:pPr/>
              <a:t>‹#›</a:t>
            </a:fld>
            <a:endParaRPr lang="en-US" dirty="0"/>
          </a:p>
        </p:txBody>
      </p:sp>
    </p:spTree>
    <p:extLst>
      <p:ext uri="{BB962C8B-B14F-4D97-AF65-F5344CB8AC3E}">
        <p14:creationId xmlns:p14="http://schemas.microsoft.com/office/powerpoint/2010/main" val="1208788048"/>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10" r:id="rId5"/>
    <p:sldLayoutId id="2147483715" r:id="rId6"/>
    <p:sldLayoutId id="2147483711" r:id="rId7"/>
    <p:sldLayoutId id="2147483712" r:id="rId8"/>
    <p:sldLayoutId id="2147483713" r:id="rId9"/>
    <p:sldLayoutId id="2147483714" r:id="rId10"/>
    <p:sldLayoutId id="2147483716" r:id="rId11"/>
  </p:sldLayoutIdLst>
  <p:txStyles>
    <p:title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mendix.com/blog/agile-software-development-lifecycle-stages/" TargetMode="External"/><Relationship Id="rId2" Type="http://schemas.openxmlformats.org/officeDocument/2006/relationships/hyperlink" Target="https://resources.scrumalliance.org/Article/scrum-team" TargetMode="External"/><Relationship Id="rId1" Type="http://schemas.openxmlformats.org/officeDocument/2006/relationships/slideLayout" Target="../slideLayouts/slideLayout2.xml"/><Relationship Id="rId5" Type="http://schemas.openxmlformats.org/officeDocument/2006/relationships/hyperlink" Target="https://project-management.com/agile-vs-waterfall/" TargetMode="External"/><Relationship Id="rId4" Type="http://schemas.openxmlformats.org/officeDocument/2006/relationships/hyperlink" Target="https://www.atlassian.com/agile/project-management/waterfall-methodolog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FA27539-4286-4FA8-9DA6-7CF237447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112369" y="1079500"/>
            <a:ext cx="4078800" cy="2138400"/>
          </a:xfrm>
        </p:spPr>
        <p:txBody>
          <a:bodyPr>
            <a:normAutofit/>
          </a:bodyPr>
          <a:lstStyle/>
          <a:p>
            <a:r>
              <a:rPr lang="en-US" dirty="0"/>
              <a:t>Agile VS Waterfall</a:t>
            </a:r>
          </a:p>
        </p:txBody>
      </p:sp>
      <p:sp>
        <p:nvSpPr>
          <p:cNvPr id="3" name="Subtitle 2"/>
          <p:cNvSpPr>
            <a:spLocks noGrp="1"/>
          </p:cNvSpPr>
          <p:nvPr>
            <p:ph type="subTitle" idx="1"/>
          </p:nvPr>
        </p:nvSpPr>
        <p:spPr>
          <a:xfrm>
            <a:off x="7112369" y="4113213"/>
            <a:ext cx="4078800" cy="1655762"/>
          </a:xfrm>
        </p:spPr>
        <p:txBody>
          <a:bodyPr vert="horz" lIns="91440" tIns="45720" rIns="91440" bIns="45720" rtlCol="0" anchor="t">
            <a:normAutofit/>
          </a:bodyPr>
          <a:lstStyle/>
          <a:p>
            <a:r>
              <a:rPr lang="en-US" dirty="0">
                <a:solidFill>
                  <a:srgbClr val="000000">
                    <a:alpha val="60000"/>
                  </a:srgbClr>
                </a:solidFill>
              </a:rPr>
              <a:t>Nicholas Galan</a:t>
            </a:r>
          </a:p>
          <a:p>
            <a:endParaRPr lang="en-US" dirty="0">
              <a:solidFill>
                <a:srgbClr val="000000">
                  <a:alpha val="60000"/>
                </a:srgbClr>
              </a:solidFill>
            </a:endParaRPr>
          </a:p>
        </p:txBody>
      </p:sp>
      <p:pic>
        <p:nvPicPr>
          <p:cNvPr id="4" name="Picture 3">
            <a:extLst>
              <a:ext uri="{FF2B5EF4-FFF2-40B4-BE49-F238E27FC236}">
                <a16:creationId xmlns:a16="http://schemas.microsoft.com/office/drawing/2014/main" id="{D5DB0BD8-102F-A5D5-E4B3-041C91825F07}"/>
              </a:ext>
            </a:extLst>
          </p:cNvPr>
          <p:cNvPicPr>
            <a:picLocks noChangeAspect="1"/>
          </p:cNvPicPr>
          <p:nvPr/>
        </p:nvPicPr>
        <p:blipFill>
          <a:blip r:embed="rId2"/>
          <a:srcRect l="35196" r="13854" b="8"/>
          <a:stretch>
            <a:fillRect/>
          </a:stretch>
        </p:blipFill>
        <p:spPr>
          <a:xfrm>
            <a:off x="20" y="10"/>
            <a:ext cx="6111518" cy="6857990"/>
          </a:xfrm>
          <a:prstGeom prst="rect">
            <a:avLst/>
          </a:prstGeom>
        </p:spPr>
      </p:pic>
      <p:cxnSp>
        <p:nvCxnSpPr>
          <p:cNvPr id="11" name="Straight Connector 10">
            <a:extLst>
              <a:ext uri="{FF2B5EF4-FFF2-40B4-BE49-F238E27FC236}">
                <a16:creationId xmlns:a16="http://schemas.microsoft.com/office/drawing/2014/main" id="{C5E74535-9C0E-4211-B088-610AD56262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1769"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A13B-9C99-6592-B4A0-592BD1A914C1}"/>
              </a:ext>
            </a:extLst>
          </p:cNvPr>
          <p:cNvSpPr>
            <a:spLocks noGrp="1"/>
          </p:cNvSpPr>
          <p:nvPr>
            <p:ph type="title"/>
          </p:nvPr>
        </p:nvSpPr>
        <p:spPr/>
        <p:txBody>
          <a:bodyPr/>
          <a:lstStyle/>
          <a:p>
            <a:r>
              <a:rPr lang="en-US" dirty="0"/>
              <a:t>Scrum Agile Team Roles</a:t>
            </a:r>
          </a:p>
        </p:txBody>
      </p:sp>
      <p:sp>
        <p:nvSpPr>
          <p:cNvPr id="3" name="Content Placeholder 2">
            <a:extLst>
              <a:ext uri="{FF2B5EF4-FFF2-40B4-BE49-F238E27FC236}">
                <a16:creationId xmlns:a16="http://schemas.microsoft.com/office/drawing/2014/main" id="{34E920D6-0A57-1DB9-838E-DD522DBDECBB}"/>
              </a:ext>
            </a:extLst>
          </p:cNvPr>
          <p:cNvSpPr>
            <a:spLocks noGrp="1"/>
          </p:cNvSpPr>
          <p:nvPr>
            <p:ph idx="1"/>
          </p:nvPr>
        </p:nvSpPr>
        <p:spPr/>
        <p:txBody>
          <a:bodyPr vert="horz" lIns="91440" tIns="45720" rIns="91440" bIns="45720" rtlCol="0" anchor="t">
            <a:normAutofit/>
          </a:bodyPr>
          <a:lstStyle/>
          <a:p>
            <a:pPr marL="359410" indent="-359410"/>
            <a:r>
              <a:rPr lang="en-US" dirty="0">
                <a:solidFill>
                  <a:srgbClr val="000000">
                    <a:alpha val="60000"/>
                  </a:srgbClr>
                </a:solidFill>
              </a:rPr>
              <a:t>Scrum Master-Holds Scrum team accountable while also helping the team perform at the highest capacity by facilitating scrum events.</a:t>
            </a:r>
          </a:p>
          <a:p>
            <a:pPr marL="359410" indent="-359410"/>
            <a:r>
              <a:rPr lang="en-US" dirty="0">
                <a:solidFill>
                  <a:srgbClr val="000000">
                    <a:alpha val="60000"/>
                  </a:srgbClr>
                </a:solidFill>
              </a:rPr>
              <a:t>Developer-Teams of developers are structured to organize how to plan accomplishing their work and what the definition of done is.</a:t>
            </a:r>
          </a:p>
          <a:p>
            <a:pPr marL="359410" indent="-359410"/>
            <a:r>
              <a:rPr lang="en-US" dirty="0">
                <a:solidFill>
                  <a:srgbClr val="000000">
                    <a:alpha val="60000"/>
                  </a:srgbClr>
                </a:solidFill>
              </a:rPr>
              <a:t>Product owner-the owner of the product that defines what and why and who developing a product is intended for. They have the final say on product decisions.</a:t>
            </a:r>
          </a:p>
        </p:txBody>
      </p:sp>
    </p:spTree>
    <p:extLst>
      <p:ext uri="{BB962C8B-B14F-4D97-AF65-F5344CB8AC3E}">
        <p14:creationId xmlns:p14="http://schemas.microsoft.com/office/powerpoint/2010/main" val="478343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31A9C-7641-991B-CE4F-0BADBCAE7446}"/>
              </a:ext>
            </a:extLst>
          </p:cNvPr>
          <p:cNvSpPr>
            <a:spLocks noGrp="1"/>
          </p:cNvSpPr>
          <p:nvPr>
            <p:ph type="title"/>
          </p:nvPr>
        </p:nvSpPr>
        <p:spPr/>
        <p:txBody>
          <a:bodyPr/>
          <a:lstStyle/>
          <a:p>
            <a:r>
              <a:rPr lang="en-US" dirty="0"/>
              <a:t>5 Agile Phases of SDLC</a:t>
            </a:r>
          </a:p>
        </p:txBody>
      </p:sp>
      <p:sp>
        <p:nvSpPr>
          <p:cNvPr id="3" name="Content Placeholder 2">
            <a:extLst>
              <a:ext uri="{FF2B5EF4-FFF2-40B4-BE49-F238E27FC236}">
                <a16:creationId xmlns:a16="http://schemas.microsoft.com/office/drawing/2014/main" id="{662256D9-DF32-8947-B7F7-95707D0027F3}"/>
              </a:ext>
            </a:extLst>
          </p:cNvPr>
          <p:cNvSpPr>
            <a:spLocks noGrp="1"/>
          </p:cNvSpPr>
          <p:nvPr>
            <p:ph idx="1"/>
          </p:nvPr>
        </p:nvSpPr>
        <p:spPr>
          <a:xfrm>
            <a:off x="989400" y="1714679"/>
            <a:ext cx="10213200" cy="5003474"/>
          </a:xfrm>
        </p:spPr>
        <p:txBody>
          <a:bodyPr vert="horz" lIns="91440" tIns="45720" rIns="91440" bIns="45720" rtlCol="0" anchor="t">
            <a:normAutofit lnSpcReduction="10000"/>
          </a:bodyPr>
          <a:lstStyle/>
          <a:p>
            <a:pPr marL="359410" indent="-359410"/>
            <a:r>
              <a:rPr lang="en-US" dirty="0">
                <a:solidFill>
                  <a:srgbClr val="000000">
                    <a:alpha val="60000"/>
                  </a:srgbClr>
                </a:solidFill>
              </a:rPr>
              <a:t>1.Ideation-The product owner defines the purpose of the goal amongst the team and determines user requirements and prioritizing task.</a:t>
            </a:r>
          </a:p>
          <a:p>
            <a:pPr marL="359410" indent="-359410"/>
            <a:r>
              <a:rPr lang="en-US" dirty="0">
                <a:solidFill>
                  <a:srgbClr val="000000">
                    <a:alpha val="60000"/>
                  </a:srgbClr>
                </a:solidFill>
              </a:rPr>
              <a:t>2.Development-Production task such as architecting and coding can begin in increments once planning is complete.</a:t>
            </a:r>
          </a:p>
          <a:p>
            <a:pPr marL="359410" indent="-359410"/>
            <a:r>
              <a:rPr lang="en-US" dirty="0">
                <a:solidFill>
                  <a:srgbClr val="000000">
                    <a:alpha val="60000"/>
                  </a:srgbClr>
                </a:solidFill>
              </a:rPr>
              <a:t>3.Testing-Issues are identified by checking code and finding bugs and performing trial runs frequently.</a:t>
            </a:r>
          </a:p>
          <a:p>
            <a:pPr marL="359410" indent="-359410"/>
            <a:r>
              <a:rPr lang="en-US" dirty="0">
                <a:solidFill>
                  <a:srgbClr val="000000">
                    <a:alpha val="60000"/>
                  </a:srgbClr>
                </a:solidFill>
              </a:rPr>
              <a:t>4.Deployment- After extensive testing the product is live and accessible allowing user feedback to come in.</a:t>
            </a:r>
          </a:p>
          <a:p>
            <a:pPr marL="359410" indent="-359410"/>
            <a:r>
              <a:rPr lang="en-US" dirty="0">
                <a:solidFill>
                  <a:srgbClr val="000000">
                    <a:alpha val="60000"/>
                  </a:srgbClr>
                </a:solidFill>
              </a:rPr>
              <a:t>5.Operations-User support and maintenance are necessary to keep the software relevant and error free.</a:t>
            </a:r>
          </a:p>
        </p:txBody>
      </p:sp>
    </p:spTree>
    <p:extLst>
      <p:ext uri="{BB962C8B-B14F-4D97-AF65-F5344CB8AC3E}">
        <p14:creationId xmlns:p14="http://schemas.microsoft.com/office/powerpoint/2010/main" val="2278471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7609B-7452-CC0E-5BC3-CBD3A2CFCE3E}"/>
              </a:ext>
            </a:extLst>
          </p:cNvPr>
          <p:cNvSpPr>
            <a:spLocks noGrp="1"/>
          </p:cNvSpPr>
          <p:nvPr>
            <p:ph type="title"/>
          </p:nvPr>
        </p:nvSpPr>
        <p:spPr/>
        <p:txBody>
          <a:bodyPr/>
          <a:lstStyle/>
          <a:p>
            <a:r>
              <a:rPr lang="en-US" dirty="0"/>
              <a:t>Waterfall Approach Described</a:t>
            </a:r>
          </a:p>
        </p:txBody>
      </p:sp>
      <p:sp>
        <p:nvSpPr>
          <p:cNvPr id="3" name="Content Placeholder 2">
            <a:extLst>
              <a:ext uri="{FF2B5EF4-FFF2-40B4-BE49-F238E27FC236}">
                <a16:creationId xmlns:a16="http://schemas.microsoft.com/office/drawing/2014/main" id="{880DA0BE-19AC-6330-7735-C7B46FEC60C4}"/>
              </a:ext>
            </a:extLst>
          </p:cNvPr>
          <p:cNvSpPr>
            <a:spLocks noGrp="1"/>
          </p:cNvSpPr>
          <p:nvPr>
            <p:ph idx="1"/>
          </p:nvPr>
        </p:nvSpPr>
        <p:spPr/>
        <p:txBody>
          <a:bodyPr vert="horz" lIns="91440" tIns="45720" rIns="91440" bIns="45720" rtlCol="0" anchor="t">
            <a:normAutofit/>
          </a:bodyPr>
          <a:lstStyle/>
          <a:p>
            <a:pPr marL="359410" indent="-359410"/>
            <a:r>
              <a:rPr lang="en-US" dirty="0">
                <a:solidFill>
                  <a:srgbClr val="000000">
                    <a:alpha val="60000"/>
                  </a:srgbClr>
                </a:solidFill>
              </a:rPr>
              <a:t>This process would have been different with waterfall because we would not have been able to adapt to the constant changing dynamics of the user stories. Specifically, we would not have been able to fluidly adapt to the shift towards offering wellness and health types of travel options. This product would have stayed more aligned with its original idea of general vacations and that would have made it more likely to be unsuccessful.</a:t>
            </a:r>
          </a:p>
        </p:txBody>
      </p:sp>
    </p:spTree>
    <p:extLst>
      <p:ext uri="{BB962C8B-B14F-4D97-AF65-F5344CB8AC3E}">
        <p14:creationId xmlns:p14="http://schemas.microsoft.com/office/powerpoint/2010/main" val="1472185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A7D3F-B431-80AE-1650-357750AAB4A3}"/>
              </a:ext>
            </a:extLst>
          </p:cNvPr>
          <p:cNvSpPr>
            <a:spLocks noGrp="1"/>
          </p:cNvSpPr>
          <p:nvPr>
            <p:ph type="title"/>
          </p:nvPr>
        </p:nvSpPr>
        <p:spPr/>
        <p:txBody>
          <a:bodyPr/>
          <a:lstStyle/>
          <a:p>
            <a:r>
              <a:rPr lang="en-US" dirty="0"/>
              <a:t>Waterfall or Agile Approach?</a:t>
            </a:r>
          </a:p>
        </p:txBody>
      </p:sp>
      <p:sp>
        <p:nvSpPr>
          <p:cNvPr id="3" name="Content Placeholder 2">
            <a:extLst>
              <a:ext uri="{FF2B5EF4-FFF2-40B4-BE49-F238E27FC236}">
                <a16:creationId xmlns:a16="http://schemas.microsoft.com/office/drawing/2014/main" id="{79388C1E-4478-E35B-210E-0D50C0FA0F62}"/>
              </a:ext>
            </a:extLst>
          </p:cNvPr>
          <p:cNvSpPr>
            <a:spLocks noGrp="1"/>
          </p:cNvSpPr>
          <p:nvPr>
            <p:ph idx="1"/>
          </p:nvPr>
        </p:nvSpPr>
        <p:spPr>
          <a:xfrm>
            <a:off x="989400" y="1714679"/>
            <a:ext cx="10213200" cy="5017852"/>
          </a:xfrm>
        </p:spPr>
        <p:txBody>
          <a:bodyPr vert="horz" lIns="91440" tIns="45720" rIns="91440" bIns="45720" rtlCol="0" anchor="t">
            <a:normAutofit lnSpcReduction="10000"/>
          </a:bodyPr>
          <a:lstStyle/>
          <a:p>
            <a:pPr marL="359410" indent="-359410"/>
            <a:r>
              <a:rPr lang="en-US" dirty="0">
                <a:solidFill>
                  <a:srgbClr val="000000">
                    <a:alpha val="60000"/>
                  </a:srgbClr>
                </a:solidFill>
              </a:rPr>
              <a:t>Agile projects are self-organizing  with planning and structure shifting as situations demand allowing them to move much more quickly than waterfall. Clients and stakeholders are involved every step of the way. Documentation is less formal throughout the lifecycle</a:t>
            </a:r>
          </a:p>
          <a:p>
            <a:pPr marL="359410" indent="-359410"/>
            <a:r>
              <a:rPr lang="en-US" dirty="0">
                <a:solidFill>
                  <a:srgbClr val="000000">
                    <a:alpha val="60000"/>
                  </a:srgbClr>
                </a:solidFill>
              </a:rPr>
              <a:t>Waterfall projects are heavily documented throughout the process whereas clients and stakeholders are not involved in any details until completion.</a:t>
            </a:r>
          </a:p>
          <a:p>
            <a:pPr marL="359410" indent="-359410"/>
            <a:r>
              <a:rPr lang="en-US" dirty="0">
                <a:solidFill>
                  <a:srgbClr val="000000">
                    <a:alpha val="60000"/>
                  </a:srgbClr>
                </a:solidFill>
              </a:rPr>
              <a:t>Each team member has a defined role and will not deviate from that role and communication is less frequent and more formal.</a:t>
            </a:r>
          </a:p>
          <a:p>
            <a:pPr marL="359410" indent="-359410"/>
            <a:r>
              <a:rPr lang="en-US" dirty="0">
                <a:solidFill>
                  <a:srgbClr val="000000">
                    <a:alpha val="60000"/>
                  </a:srgbClr>
                </a:solidFill>
              </a:rPr>
              <a:t>Agile is best used in software development and advertising and waterfall is best suited for construction ,healthcare, and manufacturing.</a:t>
            </a:r>
          </a:p>
          <a:p>
            <a:pPr marL="359410" indent="-359410"/>
            <a:endParaRPr lang="en-US" dirty="0">
              <a:solidFill>
                <a:srgbClr val="000000">
                  <a:alpha val="60000"/>
                </a:srgbClr>
              </a:solidFill>
            </a:endParaRPr>
          </a:p>
        </p:txBody>
      </p:sp>
    </p:spTree>
    <p:extLst>
      <p:ext uri="{BB962C8B-B14F-4D97-AF65-F5344CB8AC3E}">
        <p14:creationId xmlns:p14="http://schemas.microsoft.com/office/powerpoint/2010/main" val="2732504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50000"/>
            <a:lumOff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C312D-0E0F-9A70-6BDB-1609AF7539CA}"/>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73E4A029-E6C4-AB75-6AE1-67B872B72C25}"/>
              </a:ext>
            </a:extLst>
          </p:cNvPr>
          <p:cNvSpPr>
            <a:spLocks noGrp="1"/>
          </p:cNvSpPr>
          <p:nvPr>
            <p:ph idx="1"/>
          </p:nvPr>
        </p:nvSpPr>
        <p:spPr/>
        <p:txBody>
          <a:bodyPr vert="horz" lIns="91440" tIns="45720" rIns="91440" bIns="45720" rtlCol="0" anchor="t">
            <a:normAutofit/>
          </a:bodyPr>
          <a:lstStyle/>
          <a:p>
            <a:pPr marL="359410" indent="-359410"/>
            <a:r>
              <a:rPr lang="en-US" dirty="0">
                <a:ea typeface="+mn-lt"/>
                <a:cs typeface="+mn-lt"/>
                <a:hlinkClick r:id="rId2"/>
              </a:rPr>
              <a:t>https://resources.scrumalliance.org/Article/scrum-team</a:t>
            </a:r>
            <a:endParaRPr lang="en-US">
              <a:solidFill>
                <a:srgbClr val="000000">
                  <a:alpha val="60000"/>
                </a:srgbClr>
              </a:solidFill>
              <a:ea typeface="+mn-lt"/>
              <a:cs typeface="+mn-lt"/>
            </a:endParaRPr>
          </a:p>
          <a:p>
            <a:pPr marL="359410" indent="-359410"/>
            <a:r>
              <a:rPr lang="en-US" dirty="0">
                <a:solidFill>
                  <a:srgbClr val="000000">
                    <a:alpha val="60000"/>
                  </a:srgbClr>
                </a:solidFill>
                <a:ea typeface="+mn-lt"/>
                <a:cs typeface="+mn-lt"/>
                <a:hlinkClick r:id="rId3"/>
              </a:rPr>
              <a:t>https://www.mendix.com/blog/agile-software-development-lifecycle-stages/</a:t>
            </a:r>
            <a:endParaRPr lang="en-US" dirty="0">
              <a:solidFill>
                <a:srgbClr val="000000">
                  <a:alpha val="60000"/>
                </a:srgbClr>
              </a:solidFill>
              <a:ea typeface="+mn-lt"/>
              <a:cs typeface="+mn-lt"/>
            </a:endParaRPr>
          </a:p>
          <a:p>
            <a:pPr marL="359410" indent="-359410"/>
            <a:r>
              <a:rPr lang="en-US" dirty="0">
                <a:solidFill>
                  <a:srgbClr val="000000">
                    <a:alpha val="60000"/>
                  </a:srgbClr>
                </a:solidFill>
                <a:ea typeface="+mn-lt"/>
                <a:cs typeface="+mn-lt"/>
                <a:hlinkClick r:id="rId4"/>
              </a:rPr>
              <a:t>https://www.atlassian.com/agile/project-management/waterfall-methodology</a:t>
            </a:r>
            <a:endParaRPr lang="en-US" dirty="0">
              <a:solidFill>
                <a:srgbClr val="000000">
                  <a:alpha val="60000"/>
                </a:srgbClr>
              </a:solidFill>
              <a:ea typeface="+mn-lt"/>
              <a:cs typeface="+mn-lt"/>
            </a:endParaRPr>
          </a:p>
          <a:p>
            <a:pPr marL="359410" indent="-359410"/>
            <a:r>
              <a:rPr lang="en-US" dirty="0">
                <a:solidFill>
                  <a:srgbClr val="000000">
                    <a:alpha val="60000"/>
                  </a:srgbClr>
                </a:solidFill>
                <a:ea typeface="+mn-lt"/>
                <a:cs typeface="+mn-lt"/>
                <a:hlinkClick r:id="rId5"/>
              </a:rPr>
              <a:t>https://project-management.com/agile-vs-waterfall/</a:t>
            </a:r>
            <a:endParaRPr lang="en-US" dirty="0">
              <a:solidFill>
                <a:srgbClr val="000000">
                  <a:alpha val="60000"/>
                </a:srgbClr>
              </a:solidFill>
              <a:ea typeface="+mn-lt"/>
              <a:cs typeface="+mn-lt"/>
            </a:endParaRPr>
          </a:p>
          <a:p>
            <a:pPr marL="359410" indent="-359410"/>
            <a:endParaRPr lang="en-US" dirty="0">
              <a:solidFill>
                <a:srgbClr val="000000">
                  <a:alpha val="60000"/>
                </a:srgbClr>
              </a:solidFill>
            </a:endParaRPr>
          </a:p>
        </p:txBody>
      </p:sp>
    </p:spTree>
    <p:extLst>
      <p:ext uri="{BB962C8B-B14F-4D97-AF65-F5344CB8AC3E}">
        <p14:creationId xmlns:p14="http://schemas.microsoft.com/office/powerpoint/2010/main" val="2388797559"/>
      </p:ext>
    </p:extLst>
  </p:cSld>
  <p:clrMapOvr>
    <a:masterClrMapping/>
  </p:clrMapOvr>
</p:sld>
</file>

<file path=ppt/theme/theme1.xml><?xml version="1.0" encoding="utf-8"?>
<a:theme xmlns:a="http://schemas.openxmlformats.org/drawingml/2006/main" name="FrostyVTI">
  <a:themeElements>
    <a:clrScheme name="Frosty">
      <a:dk1>
        <a:sysClr val="windowText" lastClr="000000"/>
      </a:dk1>
      <a:lt1>
        <a:sysClr val="window" lastClr="FFFFFF"/>
      </a:lt1>
      <a:dk2>
        <a:srgbClr val="0B2827"/>
      </a:dk2>
      <a:lt2>
        <a:srgbClr val="DAE3E3"/>
      </a:lt2>
      <a:accent1>
        <a:srgbClr val="767E37"/>
      </a:accent1>
      <a:accent2>
        <a:srgbClr val="B495C2"/>
      </a:accent2>
      <a:accent3>
        <a:srgbClr val="8FA3A3"/>
      </a:accent3>
      <a:accent4>
        <a:srgbClr val="CE7F01"/>
      </a:accent4>
      <a:accent5>
        <a:srgbClr val="D15A29"/>
      </a:accent5>
      <a:accent6>
        <a:srgbClr val="B88470"/>
      </a:accent6>
      <a:hlink>
        <a:srgbClr val="B57001"/>
      </a:hlink>
      <a:folHlink>
        <a:srgbClr val="996209"/>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yVTI" id="{DD283BC3-E0B6-4E4B-91CF-F0F54D51BB21}" vid="{3EE220F7-F497-4893-BE1F-7BB1D607421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FrostyVTI</vt:lpstr>
      <vt:lpstr>Agile VS Waterfall</vt:lpstr>
      <vt:lpstr>Scrum Agile Team Roles</vt:lpstr>
      <vt:lpstr>5 Agile Phases of SDLC</vt:lpstr>
      <vt:lpstr>Waterfall Approach Described</vt:lpstr>
      <vt:lpstr>Waterfall or Agile Approach?</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237</cp:revision>
  <dcterms:created xsi:type="dcterms:W3CDTF">2025-12-06T22:26:19Z</dcterms:created>
  <dcterms:modified xsi:type="dcterms:W3CDTF">2025-12-07T00:50:19Z</dcterms:modified>
</cp:coreProperties>
</file>